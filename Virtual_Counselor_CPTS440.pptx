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</c:v>
                </c:pt>
              </c:strCache>
            </c:strRef>
          </c:tx>
          <c:spPr>
            <a:solidFill>
              <a:srgbClr val="0E7C86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prereq valid.</c:v>
                </c:pt>
                <c:pt idx="1">
                  <c:v>chain discovery</c:v>
                </c:pt>
                <c:pt idx="2">
                  <c:v>credits</c:v>
                </c:pt>
                <c:pt idx="3">
                  <c:v>schedule</c:v>
                </c:pt>
                <c:pt idx="4">
                  <c:v>ucore</c:v>
                </c:pt>
                <c:pt idx="5">
                  <c:v>degree progress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4</c:v>
                </c:pt>
                <c:pt idx="2">
                  <c:v>11</c:v>
                </c:pt>
                <c:pt idx="3">
                  <c:v>13</c:v>
                </c:pt>
                <c:pt idx="4">
                  <c:v>7</c:v>
                </c:pt>
                <c:pt idx="5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AAE-3E44-ACD9-FFEEE2BFB1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</c:v>
                </c:pt>
              </c:strCache>
            </c:strRef>
          </c:tx>
          <c:spPr>
            <a:solidFill>
              <a:srgbClr val="C58E2A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prereq valid.</c:v>
                </c:pt>
                <c:pt idx="1">
                  <c:v>chain discovery</c:v>
                </c:pt>
                <c:pt idx="2">
                  <c:v>credits</c:v>
                </c:pt>
                <c:pt idx="3">
                  <c:v>schedule</c:v>
                </c:pt>
                <c:pt idx="4">
                  <c:v>ucore</c:v>
                </c:pt>
                <c:pt idx="5">
                  <c:v>degree progress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18</c:v>
                </c:pt>
                <c:pt idx="2">
                  <c:v>2</c:v>
                </c:pt>
                <c:pt idx="3">
                  <c:v>1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8AAE-3E44-ACD9-FFEEE2BFB1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</c:v>
                </c:pt>
              </c:strCache>
            </c:strRef>
          </c:tx>
          <c:spPr>
            <a:solidFill>
              <a:srgbClr val="981E32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prereq valid.</c:v>
                </c:pt>
                <c:pt idx="1">
                  <c:v>chain discovery</c:v>
                </c:pt>
                <c:pt idx="2">
                  <c:v>credits</c:v>
                </c:pt>
                <c:pt idx="3">
                  <c:v>schedule</c:v>
                </c:pt>
                <c:pt idx="4">
                  <c:v>ucore</c:v>
                </c:pt>
                <c:pt idx="5">
                  <c:v>degree progress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</c:v>
                </c:pt>
                <c:pt idx="1">
                  <c:v>3</c:v>
                </c:pt>
                <c:pt idx="2">
                  <c:v>7</c:v>
                </c:pt>
                <c:pt idx="3">
                  <c:v>1</c:v>
                </c:pt>
                <c:pt idx="4">
                  <c:v>0</c:v>
                </c:pt>
                <c:pt idx="5">
                  <c:v>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8AAE-3E44-ACD9-FFEEE2BFB1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6B6B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468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CPTS 440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</a:rPr>
              <a:t>Semester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54864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·  Spring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18872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Counselor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457200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State University  ·  School of EECS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future shouldn’t rely on a busy advisor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5720" cy="77724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catalogs are 200+ pages of dense pdf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dig through prereq trees by hand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5720" cy="77724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wrong prereq = a wasted semester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courses are easy to miss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45720" cy="77724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are overloaded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fill up weeks 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45720" cy="77724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chatbots hallucinate course codes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37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sound confident and ship bad info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Counselor  ·  CPTS 440  ·  Group 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question, three pipelines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60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3152" cy="13716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3911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984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WSU catalog (txt)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~3.5k course chunks +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 degree blocks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42316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657600" y="1874520"/>
            <a:ext cx="2560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657600" y="1874520"/>
            <a:ext cx="73152" cy="13716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03911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1984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ingestor + parser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88620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prereq extractor,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alias table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42316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675120" y="1874520"/>
            <a:ext cx="2560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6675120" y="1874520"/>
            <a:ext cx="73152" cy="13716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039112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60920" y="19842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 embed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903720" y="2468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 vectors,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L2-normalized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42316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692640" y="1874520"/>
            <a:ext cx="2194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7"/>
          <p:cNvSpPr/>
          <p:nvPr/>
        </p:nvSpPr>
        <p:spPr>
          <a:xfrm>
            <a:off x="9692640" y="1874520"/>
            <a:ext cx="73152" cy="13716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2039112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10378440" y="19842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(IndexFlatIP)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992124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over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metadata.json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40080" y="3931920"/>
            <a:ext cx="2377440" cy="822960"/>
          </a:xfrm>
          <a:prstGeom prst="ellipse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640080" y="39319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question</a:t>
            </a:r>
            <a:endParaRPr lang="en-US" sz="13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4251960"/>
            <a:ext cx="274320" cy="27432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3520440" y="3931920"/>
            <a:ext cx="1645920" cy="822960"/>
          </a:xfrm>
          <a:prstGeom prst="rect">
            <a:avLst/>
          </a:prstGeom>
          <a:solidFill>
            <a:srgbClr val="C58E2A"/>
          </a:solidFill>
          <a:ln w="12700">
            <a:solidFill>
              <a:srgbClr val="C58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4"/>
          <p:cNvSpPr/>
          <p:nvPr/>
        </p:nvSpPr>
        <p:spPr>
          <a:xfrm>
            <a:off x="3520440" y="3931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4343400" y="4754880"/>
            <a:ext cx="0" cy="27432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6"/>
          <p:cNvSpPr/>
          <p:nvPr/>
        </p:nvSpPr>
        <p:spPr>
          <a:xfrm>
            <a:off x="1691640" y="5029200"/>
            <a:ext cx="877824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1417320" y="5074920"/>
            <a:ext cx="2103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1417320" y="5074920"/>
            <a:ext cx="2103120" cy="54864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/>
          <p:nvPr/>
        </p:nvSpPr>
        <p:spPr>
          <a:xfrm>
            <a:off x="1554480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can_take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1554480" y="5486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prereq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→ LLM explainer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5029200" y="5074920"/>
            <a:ext cx="2103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58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2"/>
          <p:cNvSpPr/>
          <p:nvPr/>
        </p:nvSpPr>
        <p:spPr>
          <a:xfrm>
            <a:off x="5029200" y="5074920"/>
            <a:ext cx="2103120" cy="54864"/>
          </a:xfrm>
          <a:prstGeom prst="rect">
            <a:avLst/>
          </a:prstGeom>
          <a:solidFill>
            <a:srgbClr val="C58E2A"/>
          </a:solidFill>
          <a:ln w="12700">
            <a:solidFill>
              <a:srgbClr val="C58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3"/>
          <p:cNvSpPr/>
          <p:nvPr/>
        </p:nvSpPr>
        <p:spPr>
          <a:xfrm>
            <a:off x="5166360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8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what_to_grad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166360" y="5486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lookup + diff →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graduation plan</a:t>
            </a:r>
            <a:endParaRPr lang="en-US" sz="1100" dirty="0"/>
          </a:p>
        </p:txBody>
      </p:sp>
      <p:sp>
        <p:nvSpPr>
          <p:cNvPr id="45" name="Shape 35"/>
          <p:cNvSpPr/>
          <p:nvPr/>
        </p:nvSpPr>
        <p:spPr>
          <a:xfrm>
            <a:off x="8641080" y="5074920"/>
            <a:ext cx="2103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6"/>
          <p:cNvSpPr/>
          <p:nvPr/>
        </p:nvSpPr>
        <p:spPr>
          <a:xfrm>
            <a:off x="8641080" y="5074920"/>
            <a:ext cx="210312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7"/>
          <p:cNvSpPr/>
          <p:nvPr/>
        </p:nvSpPr>
        <p:spPr>
          <a:xfrm>
            <a:off x="8778240" y="5166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freeform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8778240" y="54864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top-30 → reranker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→ LLM (Haiku 4.5)</a:t>
            </a:r>
            <a:endParaRPr lang="en-US" sz="1100" dirty="0"/>
          </a:p>
        </p:txBody>
      </p:sp>
      <p:sp>
        <p:nvSpPr>
          <p:cNvPr id="49" name="Shape 3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0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Counselor  ·  CPTS 440  ·  Group 6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1152144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 · INGEST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parsing the catalog into something searchable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pull 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EDE6DD"/>
          </a:solidFill>
          <a:ln w="12700">
            <a:solidFill>
              <a:srgbClr val="EDE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194560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0848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23591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CPT S 121, MATH 171, …  via _CODE_RE regex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EDE6DD"/>
          </a:solidFill>
          <a:ln w="12700">
            <a:solidFill>
              <a:srgbClr val="EDE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063240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9535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 strings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80160" y="32278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captured by _PREREQ_RE then parsed to DNF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EDE6DD"/>
          </a:solidFill>
          <a:ln w="12700">
            <a:solidFill>
              <a:srgbClr val="EDE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931920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8221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blocks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80160" y="40965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patterns + credit counts → 191 blocks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EDE6DD"/>
          </a:solidFill>
          <a:ln w="12700">
            <a:solidFill>
              <a:srgbClr val="EDE6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800600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4690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courses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280160" y="49651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 tables vs footnote/elective pools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Counselor  ·  CPTS 440  ·  Group 6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152144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· CAN_TAKE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"can I take CPTS 322 with 223 done?"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468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468880" cy="54864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1993392"/>
            <a:ext cx="384048" cy="384048"/>
          </a:xfrm>
          <a:prstGeom prst="ellipse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0116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codes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4672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pulls courses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question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783080"/>
            <a:ext cx="2468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246120" y="1783080"/>
            <a:ext cx="2468880" cy="54864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410712" y="1993392"/>
            <a:ext cx="384048" cy="384048"/>
          </a:xfrm>
          <a:prstGeom prst="ellipse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41071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20116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10712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chunk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410712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course chunk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metadata.json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852160" y="1783080"/>
            <a:ext cx="2468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852160" y="1783080"/>
            <a:ext cx="2468880" cy="54864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016752" y="1993392"/>
            <a:ext cx="384048" cy="384048"/>
          </a:xfrm>
          <a:prstGeom prst="ellipse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01675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2011680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16752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DNF check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016752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AND-of-ORs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transcript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458200" y="1783080"/>
            <a:ext cx="2468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  <a:effectLst>
            <a:outerShdw blurRad="762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8458200" y="1783080"/>
            <a:ext cx="2468880" cy="54864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8622792" y="1993392"/>
            <a:ext cx="384048" cy="384048"/>
          </a:xfrm>
          <a:prstGeom prst="ellipse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862279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201168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622792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explainer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8622792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turns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into prose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2606040"/>
            <a:ext cx="274320" cy="274320"/>
          </a:xfrm>
          <a:prstGeom prst="rect">
            <a:avLst/>
          </a:prstGeom>
        </p:spPr>
      </p:pic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2606040"/>
            <a:ext cx="274320" cy="274320"/>
          </a:xfrm>
          <a:prstGeom prst="rect">
            <a:avLst/>
          </a:prstGeom>
        </p:spPr>
      </p:pic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2606040"/>
            <a:ext cx="274320" cy="27432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40080" y="3886200"/>
            <a:ext cx="6400800" cy="23774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8"/>
          <p:cNvSpPr/>
          <p:nvPr/>
        </p:nvSpPr>
        <p:spPr>
          <a:xfrm>
            <a:off x="640080" y="3886200"/>
            <a:ext cx="73152" cy="2377440"/>
          </a:xfrm>
          <a:prstGeom prst="rect">
            <a:avLst/>
          </a:prstGeom>
          <a:solidFill>
            <a:srgbClr val="C58E2A"/>
          </a:solidFill>
          <a:ln w="12700">
            <a:solidFill>
              <a:srgbClr val="C58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868680" y="40233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E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PrereqChecker.check() returns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868680" y="438912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D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"found":  true,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D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"can_take": false,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D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"groups":  [["CPT S 215","CPT S 223","CPT S 233"], ["MATH 216"]],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D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"missing": ["MATH 216"],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D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"unmet_groups": [1]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D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45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7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Counselor  ·  CPTS 440  ·  Group 6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1152144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· WHAT_TO_GRAD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do I need to graduate?"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GradAdvisor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02920" cy="502920"/>
          </a:xfrm>
          <a:prstGeom prst="ellipse">
            <a:avLst/>
          </a:prstGeom>
          <a:solidFill>
            <a:srgbClr val="C58E2A"/>
          </a:solidFill>
          <a:ln w="12700">
            <a:solidFill>
              <a:srgbClr val="C58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20848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degree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2395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table maps "CS" → "Bachelor of Science, Computer Science"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C58E2A"/>
          </a:solidFill>
          <a:ln w="12700">
            <a:solidFill>
              <a:srgbClr val="C58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953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all 191 chunks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2644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substring &gt; fuzzy &gt; reverse contains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C58E2A"/>
          </a:solidFill>
          <a:ln w="12700">
            <a:solidFill>
              <a:srgbClr val="C58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822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required list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1330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+ total_credits from chunk metadata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C58E2A"/>
          </a:solidFill>
          <a:ln w="12700">
            <a:solidFill>
              <a:srgbClr val="C58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6908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vs transcript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5001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 normalization, "CPT S" == "CPTS"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577840"/>
            <a:ext cx="502920" cy="502920"/>
          </a:xfrm>
          <a:prstGeom prst="ellipse">
            <a:avLst/>
          </a:prstGeom>
          <a:solidFill>
            <a:srgbClr val="C58E2A"/>
          </a:solidFill>
          <a:ln w="12700">
            <a:solidFill>
              <a:srgbClr val="C58E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55595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synthesizes plan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25880" y="58704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summary injected as fact, not retrieval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1540" y="2606040"/>
            <a:ext cx="0" cy="3017520"/>
          </a:xfrm>
          <a:prstGeom prst="line">
            <a:avLst/>
          </a:prstGeom>
          <a:noFill/>
          <a:ln w="15875">
            <a:solidFill>
              <a:srgbClr val="C58E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Counselor  ·  CPTS 440  ·  Group 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· FREEFORM RAG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sentence-transformers + cosine + reranker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148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14884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question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MiniLM-L6-v2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384-d, L2-norm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880360" y="1737360"/>
            <a:ext cx="2148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80360" y="1737360"/>
            <a:ext cx="214884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1752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(inner = cosine)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1737360"/>
            <a:ext cx="2148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0" y="1737360"/>
            <a:ext cx="2148840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top-30→3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5780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llama-nemotron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rank-1b-v2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1737360"/>
            <a:ext cx="21488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60920" y="1737360"/>
            <a:ext cx="2148840" cy="54864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context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+ prereq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+ UCORE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601200" y="1737360"/>
            <a:ext cx="1965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601200" y="1737360"/>
            <a:ext cx="1965960" cy="54864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38360" y="1828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81E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73836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38360" y="2468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claude-haiku-4-5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temp=0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3337560"/>
            <a:ext cx="5486400" cy="292608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0080" y="3337560"/>
            <a:ext cx="73152" cy="292608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" y="3474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DD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+ index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3840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423160" y="38404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  ·  384-d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42062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23160" y="420624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 via FAISS IndexFlatIP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" y="45720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reranker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23160" y="45720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nvidia/llama-nemotron-rerank-1b-v2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4937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423160" y="493776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claude-haiku-4-5  ·  temp 0  ·  400 max tok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680" y="5303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 / fetch_k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23160" y="53035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30  (sweep-tuned)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" y="5669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E9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size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423160" y="56692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~3.5k course chunks + 191 degree blocks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Counselor  ·  CPTS 440  ·  Group 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521440" y="6537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8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981E32"/>
                </a:solidFill>
                <a:latin typeface="Consola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2B2D42"/>
                </a:solidFill>
                <a:latin typeface="Georgia"/>
              </a:rPr>
              <a:t>120 cases auto-graded  ·  91 / 120 useful  ·  29 outright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2697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73152" cy="1325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B2D42"/>
                </a:solidFill>
                <a:latin typeface="Georgia"/>
              </a:rPr>
              <a:t>91 / 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7860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useful answers (pass + partial)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691640"/>
            <a:ext cx="2697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20440" y="1691640"/>
            <a:ext cx="73152" cy="13258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175564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2B2D42"/>
                </a:solidFill>
                <a:latin typeface="Georgia"/>
              </a:rPr>
              <a:t>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7860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pass · exact 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2697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73152" cy="1325880"/>
          </a:xfrm>
          <a:prstGeom prst="rect">
            <a:avLst/>
          </a:prstGeom>
          <a:solidFill>
            <a:srgbClr val="C58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75564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2B2D42"/>
                </a:solidFill>
                <a:latin typeface="Georgia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7860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partial · mostly right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691640"/>
            <a:ext cx="26974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C9BF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81160" y="1691640"/>
            <a:ext cx="73152" cy="1325880"/>
          </a:xfrm>
          <a:prstGeom prst="rect">
            <a:avLst/>
          </a:prstGeom>
          <a:solidFill>
            <a:srgbClr val="98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64040" y="175564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2B2D42"/>
                </a:solidFill>
                <a:latin typeface="Georgia"/>
              </a:rPr>
              <a:t>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57860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fail ·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2B2D42"/>
                </a:solidFill>
                <a:latin typeface="Consolas"/>
              </a:rPr>
              <a:t>by category  ·  pass / partial / fail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" y="3611880"/>
          <a:ext cx="69494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7772400" y="3246120"/>
            <a:ext cx="3840480" cy="306324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33832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300">
                <a:solidFill>
                  <a:srgbClr val="9DD8DC"/>
                </a:solidFill>
                <a:latin typeface="Consolas"/>
              </a:rPr>
              <a:t>where we win and 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79476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9DD8DC"/>
                </a:solidFill>
                <a:latin typeface="Consolas"/>
              </a:rPr>
              <a:t>BEST  ·  ucore planning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408736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10 / 10 useful  ·  zero outright fails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452628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9DD8DC"/>
                </a:solidFill>
                <a:latin typeface="Consolas"/>
              </a:rPr>
              <a:t>STRONG  ·  schedule feasibility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818888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13 / 15 pass  ·  DNF prereq engine pays 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5257800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300">
                <a:solidFill>
                  <a:srgbClr val="FFE9A8"/>
                </a:solidFill>
                <a:latin typeface="Consolas"/>
              </a:rPr>
              <a:t>WEAKEST  ·  degree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5550408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 pass / 5 partial / 9 fail  ·  many degrees not in catalog text in clean 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Virtual Counselor  ·  CPTS 440  ·  Group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3796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981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981E32"/>
                </a:solidFill>
                <a:latin typeface="Consolas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dirty="0">
                <a:solidFill>
                  <a:srgbClr val="2B2D42"/>
                </a:solidFill>
                <a:latin typeface="Georgia"/>
              </a:rPr>
              <a:t>k</a:t>
            </a:r>
            <a:r>
              <a:rPr lang="en-US" sz="3200" b="1" i="0" dirty="0">
                <a:solidFill>
                  <a:srgbClr val="2B2D42"/>
                </a:solidFill>
                <a:latin typeface="Georgia"/>
              </a:rPr>
              <a:t>ey takeaways</a:t>
            </a:r>
            <a:endParaRPr sz="3200" b="1" i="0" dirty="0">
              <a:solidFill>
                <a:srgbClr val="2B2D42"/>
              </a:solidFill>
              <a:latin typeface="Georg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981E32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2B2D42"/>
                </a:solidFill>
                <a:latin typeface="Georgia"/>
              </a:rPr>
              <a:t>use deterministic search when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vector search is for fuzzy questions. for known things — a course code, a degree name — just look it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88336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981E32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88336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B2D42"/>
                </a:solidFill>
                <a:latin typeface="Georgia"/>
              </a:rPr>
              <a:t>two stages beat one big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45536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cheap cosine narrows 3,500 chunks down to 30. the reranker only spends compute where it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47872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981E32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54787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dirty="0">
                <a:solidFill>
                  <a:srgbClr val="2B2D42"/>
                </a:solidFill>
                <a:latin typeface="Georgia"/>
              </a:rPr>
              <a:t>let the LLM write, not 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05072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the rule engine decides if you can take the class. claude writes the explanation. don't swap the two.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2B2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Virtual Counselor  ·  CPTS 440  ·  Group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thanks.</a:t>
            </a:r>
            <a:endParaRPr lang="en-US" sz="9200" dirty="0"/>
          </a:p>
        </p:txBody>
      </p:sp>
      <p:sp>
        <p:nvSpPr>
          <p:cNvPr id="4" name="Shape 2"/>
          <p:cNvSpPr/>
          <p:nvPr/>
        </p:nvSpPr>
        <p:spPr>
          <a:xfrm>
            <a:off x="914400" y="2971800"/>
            <a:ext cx="640080" cy="54864"/>
          </a:xfrm>
          <a:prstGeom prst="rect">
            <a:avLst/>
          </a:prstGeom>
          <a:solidFill>
            <a:srgbClr val="981E32"/>
          </a:solidFill>
          <a:ln w="12700">
            <a:solidFill>
              <a:srgbClr val="981E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·  CPTS 440  ·  WSU EECS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797</Words>
  <Application>Microsoft Macintosh PowerPoint</Application>
  <PresentationFormat>Widescreen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Counselor — CPTS 440</dc:title>
  <dc:subject>PptxGenJS Presentation</dc:subject>
  <dc:creator>Group 6</dc:creator>
  <cp:lastModifiedBy>Andrew Edson</cp:lastModifiedBy>
  <cp:revision>7</cp:revision>
  <dcterms:created xsi:type="dcterms:W3CDTF">2026-04-27T00:28:20Z</dcterms:created>
  <dcterms:modified xsi:type="dcterms:W3CDTF">2026-04-27T01:10:01Z</dcterms:modified>
</cp:coreProperties>
</file>